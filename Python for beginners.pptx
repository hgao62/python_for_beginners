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8" r:id="rId20"/>
    <p:sldId id="280" r:id="rId21"/>
    <p:sldId id="281" r:id="rId22"/>
    <p:sldId id="412" r:id="rId23"/>
    <p:sldId id="276" r:id="rId24"/>
    <p:sldId id="277" r:id="rId25"/>
    <p:sldId id="282" r:id="rId26"/>
    <p:sldId id="301" r:id="rId27"/>
    <p:sldId id="283" r:id="rId28"/>
    <p:sldId id="312" r:id="rId29"/>
    <p:sldId id="313" r:id="rId30"/>
    <p:sldId id="325" r:id="rId31"/>
    <p:sldId id="326" r:id="rId32"/>
    <p:sldId id="314" r:id="rId33"/>
    <p:sldId id="315" r:id="rId34"/>
    <p:sldId id="316" r:id="rId35"/>
    <p:sldId id="317" r:id="rId36"/>
    <p:sldId id="32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8" r:id="rId45"/>
    <p:sldId id="334" r:id="rId46"/>
    <p:sldId id="336" r:id="rId47"/>
    <p:sldId id="329" r:id="rId48"/>
    <p:sldId id="330" r:id="rId49"/>
    <p:sldId id="331" r:id="rId50"/>
    <p:sldId id="332" r:id="rId51"/>
    <p:sldId id="333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6" r:id="rId60"/>
    <p:sldId id="347" r:id="rId61"/>
    <p:sldId id="345" r:id="rId62"/>
    <p:sldId id="348" r:id="rId63"/>
    <p:sldId id="349" r:id="rId64"/>
    <p:sldId id="350" r:id="rId65"/>
    <p:sldId id="351" r:id="rId66"/>
    <p:sldId id="352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284" r:id="rId75"/>
    <p:sldId id="361" r:id="rId76"/>
    <p:sldId id="362" r:id="rId77"/>
    <p:sldId id="360" r:id="rId78"/>
    <p:sldId id="363" r:id="rId79"/>
    <p:sldId id="364" r:id="rId80"/>
    <p:sldId id="287" r:id="rId81"/>
    <p:sldId id="288" r:id="rId82"/>
    <p:sldId id="365" r:id="rId83"/>
    <p:sldId id="367" r:id="rId84"/>
    <p:sldId id="368" r:id="rId85"/>
    <p:sldId id="371" r:id="rId86"/>
    <p:sldId id="369" r:id="rId87"/>
    <p:sldId id="372" r:id="rId88"/>
    <p:sldId id="373" r:id="rId89"/>
    <p:sldId id="374" r:id="rId90"/>
    <p:sldId id="375" r:id="rId91"/>
    <p:sldId id="376" r:id="rId92"/>
    <p:sldId id="297" r:id="rId93"/>
    <p:sldId id="298" r:id="rId94"/>
    <p:sldId id="299" r:id="rId95"/>
    <p:sldId id="300" r:id="rId96"/>
    <p:sldId id="302" r:id="rId97"/>
    <p:sldId id="303" r:id="rId98"/>
    <p:sldId id="304" r:id="rId99"/>
    <p:sldId id="305" r:id="rId100"/>
    <p:sldId id="306" r:id="rId101"/>
    <p:sldId id="307" r:id="rId102"/>
    <p:sldId id="309" r:id="rId103"/>
    <p:sldId id="311" r:id="rId104"/>
    <p:sldId id="379" r:id="rId105"/>
    <p:sldId id="378" r:id="rId106"/>
    <p:sldId id="380" r:id="rId107"/>
    <p:sldId id="382" r:id="rId108"/>
    <p:sldId id="383" r:id="rId109"/>
    <p:sldId id="384" r:id="rId110"/>
    <p:sldId id="385" r:id="rId111"/>
    <p:sldId id="386" r:id="rId112"/>
    <p:sldId id="387" r:id="rId113"/>
    <p:sldId id="388" r:id="rId114"/>
    <p:sldId id="381" r:id="rId115"/>
    <p:sldId id="392" r:id="rId116"/>
    <p:sldId id="391" r:id="rId117"/>
    <p:sldId id="393" r:id="rId118"/>
    <p:sldId id="394" r:id="rId119"/>
    <p:sldId id="395" r:id="rId120"/>
    <p:sldId id="396" r:id="rId121"/>
    <p:sldId id="397" r:id="rId122"/>
    <p:sldId id="398" r:id="rId123"/>
    <p:sldId id="399" r:id="rId124"/>
    <p:sldId id="400" r:id="rId125"/>
    <p:sldId id="401" r:id="rId126"/>
    <p:sldId id="402" r:id="rId127"/>
    <p:sldId id="405" r:id="rId128"/>
    <p:sldId id="404" r:id="rId129"/>
    <p:sldId id="403" r:id="rId130"/>
    <p:sldId id="406" r:id="rId131"/>
    <p:sldId id="407" r:id="rId132"/>
    <p:sldId id="409" r:id="rId133"/>
    <p:sldId id="408" r:id="rId134"/>
    <p:sldId id="410" r:id="rId135"/>
    <p:sldId id="411" r:id="rId1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9" Type="http://schemas.openxmlformats.org/officeDocument/2006/relationships/tableStyles" Target="tableStyles.xml"/><Relationship Id="rId138" Type="http://schemas.openxmlformats.org/officeDocument/2006/relationships/viewProps" Target="viewProps.xml"/><Relationship Id="rId137" Type="http://schemas.openxmlformats.org/officeDocument/2006/relationships/presProps" Target="presProps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9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4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png"/></Relationships>
</file>

<file path=ppt/slides/_rels/slide1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8.wmf"/><Relationship Id="rId1" Type="http://schemas.openxmlformats.org/officeDocument/2006/relationships/oleObject" Target="../embeddings/oleObject2.bin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0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1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2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1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7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96.pn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wmf"/><Relationship Id="rId1" Type="http://schemas.openxmlformats.org/officeDocument/2006/relationships/oleObject" Target="../embeddings/oleObject5.bin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9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3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4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6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7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8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0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2.pn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charset="0"/>
                <a:cs typeface="Calibri" panose="020F0502020204030204" charset="0"/>
              </a:rPr>
              <a:t>Python for beginners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latin typeface="+mn-lt"/>
                <a:cs typeface="+mn-lt"/>
              </a:rPr>
              <a:t>Content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1. Introduction to Python</a:t>
            </a:r>
            <a:endParaRPr lang="en-US" altLang="en-US" b="1"/>
          </a:p>
          <a:p>
            <a:r>
              <a:rPr lang="en-US" altLang="en-US"/>
              <a:t>What is Python?</a:t>
            </a:r>
            <a:endParaRPr lang="en-US" altLang="en-US"/>
          </a:p>
          <a:p>
            <a:r>
              <a:rPr lang="en-US" altLang="en-US"/>
              <a:t>Installing Python &amp; Setting up the Environment</a:t>
            </a:r>
            <a:endParaRPr lang="en-US" altLang="en-US"/>
          </a:p>
          <a:p>
            <a:r>
              <a:rPr lang="en-US" altLang="en-US"/>
              <a:t>Installing Visual Studio Code</a:t>
            </a:r>
            <a:endParaRPr lang="en-US" altLang="en-US"/>
          </a:p>
          <a:p>
            <a:r>
              <a:rPr lang="en-US" altLang="en-US">
                <a:sym typeface="+mn-ea"/>
              </a:rPr>
              <a:t>Running Python Scripts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 b="1"/>
              <a:t>2. Variables and Data Types</a:t>
            </a:r>
            <a:endParaRPr lang="en-US" altLang="en-US" b="1"/>
          </a:p>
          <a:p>
            <a:r>
              <a:rPr lang="en-US" altLang="en-US"/>
              <a:t>Understanding Variables</a:t>
            </a:r>
            <a:endParaRPr lang="en-US" altLang="en-US"/>
          </a:p>
          <a:p>
            <a:r>
              <a:rPr lang="en-US" altLang="en-US"/>
              <a:t>Data Types: Integers, Floats, Strings, Booleans</a:t>
            </a:r>
            <a:endParaRPr lang="en-US" altLang="en-US"/>
          </a:p>
          <a:p>
            <a:r>
              <a:rPr lang="en-US" altLang="en-US"/>
              <a:t>Type Conversion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3. Naming Conventions</a:t>
            </a:r>
            <a:endParaRPr lang="en-US" altLang="en-US" b="1"/>
          </a:p>
          <a:p>
            <a:r>
              <a:rPr lang="en-US" altLang="en-US"/>
              <a:t>Best Practices for Naming Variables</a:t>
            </a:r>
            <a:endParaRPr lang="en-US" altLang="en-US"/>
          </a:p>
          <a:p>
            <a:r>
              <a:rPr lang="en-US" altLang="en-US"/>
              <a:t>PEP 8 Naming Conventions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4. Operators and Expressions</a:t>
            </a:r>
            <a:endParaRPr lang="en-US" altLang="en-US" b="1"/>
          </a:p>
          <a:p>
            <a:r>
              <a:rPr lang="en-US" altLang="en-US"/>
              <a:t>Arithmetic Operators (+, -, *, /, %, //, **)</a:t>
            </a:r>
            <a:endParaRPr lang="en-US" altLang="en-US"/>
          </a:p>
          <a:p>
            <a:r>
              <a:rPr lang="en-US" altLang="en-US"/>
              <a:t>Assignment vs Comparison Operators</a:t>
            </a:r>
            <a:endParaRPr lang="en-US" altLang="en-US"/>
          </a:p>
          <a:p>
            <a:r>
              <a:rPr lang="en-US" altLang="en-US"/>
              <a:t>Logical Operators (and, or, not)</a:t>
            </a:r>
            <a:endParaRPr lang="en-US" altLang="en-US"/>
          </a:p>
          <a:p>
            <a:r>
              <a:rPr lang="en-US" altLang="en-US"/>
              <a:t>Membership Operators (in, not in)</a:t>
            </a:r>
            <a:endParaRPr lang="en-US" altLang="en-US"/>
          </a:p>
          <a:p>
            <a:r>
              <a:rPr lang="en-US" altLang="en-US"/>
              <a:t>Identity Operators (is, is not)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5. Control Flow</a:t>
            </a:r>
            <a:endParaRPr lang="en-US" altLang="en-US" b="1"/>
          </a:p>
          <a:p>
            <a:r>
              <a:rPr lang="en-US" altLang="en-US"/>
              <a:t>Conditional Statements: if, elif, else</a:t>
            </a:r>
            <a:endParaRPr lang="en-US" altLang="en-US"/>
          </a:p>
          <a:p>
            <a:r>
              <a:rPr lang="en-US" altLang="en-US"/>
              <a:t>Loops: for loop, while loop</a:t>
            </a:r>
            <a:endParaRPr lang="en-US" altLang="en-US"/>
          </a:p>
          <a:p>
            <a:r>
              <a:rPr lang="en-US" altLang="en-US"/>
              <a:t>Loop Control Statements (break, continue, pass)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6. </a:t>
            </a:r>
            <a:r>
              <a:rPr lang="en-US" altLang="en-US"/>
              <a:t>Lists: Creation, Indexing, Slicing, Methods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7</a:t>
            </a:r>
            <a:r>
              <a:rPr lang="en-US" altLang="en-US"/>
              <a:t>.Dictionaries: Key-Value Pairs, Methods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8</a:t>
            </a:r>
            <a:r>
              <a:rPr lang="en-US" altLang="en-US"/>
              <a:t>.Strings: String Methods, Formatting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9</a:t>
            </a:r>
            <a:r>
              <a:rPr lang="en-US" altLang="en-US"/>
              <a:t>.Sets: Properties and Operations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10. Functions and Modules</a:t>
            </a:r>
            <a:endParaRPr lang="en-US" altLang="en-US" b="1"/>
          </a:p>
          <a:p>
            <a:r>
              <a:rPr lang="en-US" altLang="en-US"/>
              <a:t>Defining Functions</a:t>
            </a:r>
            <a:endParaRPr lang="en-US" altLang="en-US"/>
          </a:p>
          <a:p>
            <a:r>
              <a:rPr lang="en-US" altLang="en-US"/>
              <a:t>Function Arguments and Return Values</a:t>
            </a:r>
            <a:endParaRPr lang="en-US" altLang="en-US"/>
          </a:p>
          <a:p>
            <a:r>
              <a:rPr lang="en-US" altLang="en-US"/>
              <a:t>Lambda Functions</a:t>
            </a:r>
            <a:endParaRPr lang="en-US" altLang="en-US"/>
          </a:p>
          <a:p>
            <a:r>
              <a:rPr lang="en-US" altLang="en-US"/>
              <a:t>Importing Modules and Using Standard Libraries</a:t>
            </a:r>
            <a:endParaRPr lang="en-US" altLang="en-US"/>
          </a:p>
          <a:p>
            <a:r>
              <a:rPr lang="en-US" altLang="en-US"/>
              <a:t>Creating and Using Custom Modules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11. Error Handling</a:t>
            </a:r>
            <a:endParaRPr lang="en-US" altLang="en-US" b="1"/>
          </a:p>
          <a:p>
            <a:r>
              <a:rPr lang="en-US" altLang="en-US"/>
              <a:t>Understanding Errors and Exceptions</a:t>
            </a:r>
            <a:endParaRPr lang="en-US" altLang="en-US"/>
          </a:p>
          <a:p>
            <a:r>
              <a:rPr lang="en-US" altLang="en-US"/>
              <a:t>Using try-except Blocks</a:t>
            </a:r>
            <a:endParaRPr lang="en-US" altLang="en-US"/>
          </a:p>
          <a:p>
            <a:r>
              <a:rPr lang="en-US" altLang="en-US"/>
              <a:t>Handling Multiple Exceptions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12. Pandas</a:t>
            </a:r>
            <a:endParaRPr lang="en-US" altLang="en-US" b="1"/>
          </a:p>
          <a:p>
            <a:r>
              <a:rPr lang="en-US" altLang="en-US"/>
              <a:t>Installing and Importing Pandas</a:t>
            </a:r>
            <a:endParaRPr lang="en-US" altLang="en-US"/>
          </a:p>
          <a:p>
            <a:r>
              <a:rPr lang="en-US" altLang="en-US"/>
              <a:t>DataFrames and Series</a:t>
            </a:r>
            <a:endParaRPr lang="en-US" altLang="en-US"/>
          </a:p>
          <a:p>
            <a:r>
              <a:rPr lang="en-US" altLang="en-US"/>
              <a:t>Data Cleaning</a:t>
            </a:r>
            <a:endParaRPr lang="en-US" altLang="en-US"/>
          </a:p>
          <a:p>
            <a:r>
              <a:rPr lang="en-US" altLang="en-US"/>
              <a:t>Data Manipulation</a:t>
            </a:r>
            <a:endParaRPr lang="en-US" altLang="en-US"/>
          </a:p>
          <a:p>
            <a:r>
              <a:rPr lang="en-US" altLang="en-US"/>
              <a:t>Data Aggregations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/>
              <a:t>What is Python?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zh-CN" altLang="en-US"/>
              <a:t>高级解释型编程语言</a:t>
            </a:r>
            <a:r>
              <a:rPr lang="en-US" altLang="en-US"/>
              <a:t> / High-level interpreted programming language</a:t>
            </a:r>
            <a:endParaRPr lang="en-US" altLang="en-US"/>
          </a:p>
          <a:p>
            <a:pPr marL="0" indent="0">
              <a:buNone/>
            </a:pPr>
            <a:r>
              <a:rPr lang="zh-CN" altLang="en-US"/>
              <a:t>应用领域：</a:t>
            </a:r>
            <a:r>
              <a:rPr lang="en-US" altLang="en-US"/>
              <a:t>Web</a:t>
            </a:r>
            <a:r>
              <a:rPr lang="zh-CN" altLang="en-US"/>
              <a:t>开发、数据分析、</a:t>
            </a:r>
            <a:r>
              <a:rPr lang="en-US" altLang="en-US"/>
              <a:t>AI</a:t>
            </a:r>
            <a:r>
              <a:rPr lang="zh-CN" altLang="en-US"/>
              <a:t>等</a:t>
            </a:r>
            <a:r>
              <a:rPr lang="en-US" altLang="en-US"/>
              <a:t> / Applications: Web, Data Science, AI etc.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# </a:t>
            </a:r>
            <a:r>
              <a:rPr lang="zh-CN" altLang="en-US"/>
              <a:t>官方下载</a:t>
            </a:r>
            <a:r>
              <a:rPr lang="en-US" altLang="en-US"/>
              <a:t> / Official download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https://www.python.org/downloads/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Python &amp; Setting up the Environment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We use python 3.11 for our course. Please go go this link to download python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https://www.python.org/downloads/release/python-3110/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Python &amp; Setting up the Environment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065" y="2381250"/>
            <a:ext cx="10325735" cy="39554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Python &amp; Setting up the Environment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5" name="Object 4"/>
          <p:cNvGraphicFramePr/>
          <p:nvPr/>
        </p:nvGraphicFramePr>
        <p:xfrm>
          <a:off x="1235710" y="2184400"/>
          <a:ext cx="6253480" cy="382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248400" imgH="3819525" progId="Paint.Picture">
                  <p:embed/>
                </p:oleObj>
              </mc:Choice>
              <mc:Fallback>
                <p:oleObj name="" r:id="rId1" imgW="6248400" imgH="3819525" progId="Paint.Picture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35710" y="2184400"/>
                        <a:ext cx="6253480" cy="382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3620"/>
            <a:ext cx="10515600" cy="5193665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Python &amp; Setting up the Environment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Open command line from start menu on Windows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035" y="2447925"/>
            <a:ext cx="470408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Python &amp; Setting up the Environment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Verify installed python version is 3.11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3585845"/>
            <a:ext cx="592455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Visual studio code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Visual studio code(VS C</a:t>
            </a:r>
            <a:r>
              <a:rPr lang="en-US" altLang="en-US">
                <a:sym typeface="+mn-ea"/>
              </a:rPr>
              <a:t>ode): is a popular free code editor used in industry. We’ll use it in our course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Go to Link below to download visual studio code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https://code.visualstudio.com/download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495"/>
            <a:ext cx="10515600" cy="46697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Installing Visual studio code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28545"/>
            <a:ext cx="7738745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r>
              <a:rPr lang="en-US" altLang="en-US">
                <a:sym typeface="+mn-ea"/>
              </a:rPr>
              <a:t>Set up Visual studio code(install python extension)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1290320"/>
            <a:ext cx="7012940" cy="54724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 fontScale="90000"/>
          </a:bodyPr>
          <a:p>
            <a:r>
              <a:rPr lang="en-US" altLang="en-US" b="1">
                <a:sym typeface="+mn-ea"/>
              </a:rPr>
              <a:t>1. Introduction to Python</a:t>
            </a:r>
            <a:br>
              <a:rPr lang="en-US">
                <a:latin typeface="+mn-lt"/>
                <a:cs typeface="+mn-lt"/>
              </a:rPr>
            </a:b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Running python script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1. C</a:t>
            </a:r>
            <a:r>
              <a:rPr lang="en-US" altLang="en-US"/>
              <a:t>reate a new python script and run it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2. Open existing python script and run it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2. Variables and Data Types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Variables</a:t>
            </a:r>
            <a:r>
              <a:rPr lang="en-US" altLang="en-US"/>
              <a:t> store data in memory.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71445"/>
            <a:ext cx="8829040" cy="3545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2. Variables and Data Types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Primtive data types(</a:t>
            </a:r>
            <a:r>
              <a:rPr lang="zh-CN" altLang="en-US"/>
              <a:t>基本数据类型</a:t>
            </a:r>
            <a:r>
              <a:rPr lang="en-US" altLang="zh-CN"/>
              <a:t>)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" y="2926080"/>
            <a:ext cx="11632565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2. Variables and Data Types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Non Primtive data types(</a:t>
            </a:r>
            <a:r>
              <a:rPr lang="zh-CN" altLang="en-US"/>
              <a:t>非基本数据类型</a:t>
            </a:r>
            <a:r>
              <a:rPr lang="en-US" altLang="zh-CN"/>
              <a:t>)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10" y="3003550"/>
            <a:ext cx="11061065" cy="30422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2. Variables and Data Types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Data type conversion</a:t>
            </a:r>
            <a:r>
              <a:rPr lang="zh-CN" altLang="en-US"/>
              <a:t>：</a:t>
            </a:r>
            <a:r>
              <a:rPr lang="en-US" altLang="en-US"/>
              <a:t>is the process of converting one data type to another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25" y="3006090"/>
            <a:ext cx="11167110" cy="2957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2. Variables and Data Types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Type checking: checking the data type of a value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03170"/>
            <a:ext cx="9846310" cy="3714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3. Naming Conventions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1635125"/>
            <a:ext cx="9534525" cy="46958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3. Naming Conventions</a:t>
            </a:r>
            <a:endParaRPr lang="en-US">
              <a:latin typeface="+mn-lt"/>
              <a:cs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b="1"/>
              <a:t>  </a:t>
            </a:r>
            <a:r>
              <a:rPr lang="en-US" altLang="en-US"/>
              <a:t>Bad vs Good variable names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98725"/>
            <a:ext cx="7087235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4. O</a:t>
            </a:r>
            <a:r>
              <a:rPr lang="en-US" altLang="en-US" b="1">
                <a:sym typeface="+mn-ea"/>
              </a:rPr>
              <a:t>perators and Expressions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995" y="1680210"/>
            <a:ext cx="7371715" cy="46818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4. O</a:t>
            </a:r>
            <a:r>
              <a:rPr lang="en-US" altLang="en-US" b="1">
                <a:sym typeface="+mn-ea"/>
              </a:rPr>
              <a:t>perators and Expressions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664210" y="1889125"/>
            <a:ext cx="8876030" cy="5231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Comparison vs Assignment (</a:t>
            </a:r>
            <a:r>
              <a:rPr 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easily confused two topics, common bug in real world project and  coding interview !!</a:t>
            </a:r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Assignment: </a:t>
            </a: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restaurant_name = “KFC”  # doesn’t return anything</a:t>
            </a:r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Comparison: 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restaurant_name == “KFC” # return True or False</a:t>
            </a:r>
            <a:endParaRPr 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  <a:p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4. O</a:t>
            </a:r>
            <a:r>
              <a:rPr lang="en-US" altLang="en-US" b="1">
                <a:sym typeface="+mn-ea"/>
              </a:rPr>
              <a:t>perators and Expressions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680" y="2514600"/>
            <a:ext cx="9486900" cy="42195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43000" y="1375410"/>
            <a:ext cx="983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Membership operators</a:t>
            </a:r>
            <a:r>
              <a:rPr lang="en-US"/>
              <a:t>: </a:t>
            </a:r>
            <a:r>
              <a:rPr lang="en-US" altLang="en-US"/>
              <a:t>to check if a value is present in a sequence (list, tuple, string, etc.). Return True or False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Identity operators</a:t>
            </a:r>
            <a:r>
              <a:rPr lang="en-US" altLang="en-US"/>
              <a:t>: compare the memory location of two objects. Return True or Flase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if elif else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/>
              <a:t>If the condition is true, the code block inside the </a:t>
            </a:r>
            <a:r>
              <a:rPr lang="en-US" altLang="en-US" b="1"/>
              <a:t>if </a:t>
            </a:r>
            <a:r>
              <a:rPr lang="en-US" altLang="en-US"/>
              <a:t>statement is executed</a:t>
            </a:r>
            <a:endParaRPr lang="en-US" altLang="en-US"/>
          </a:p>
          <a:p>
            <a:r>
              <a:rPr lang="en-US" altLang="en-US" b="1"/>
              <a:t>else</a:t>
            </a:r>
            <a:r>
              <a:rPr lang="en-US" altLang="en-US"/>
              <a:t> statement is executed if all the conditions are false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326130"/>
            <a:ext cx="5504180" cy="28911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for loop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2000"/>
              <a:t>for loop is used to iterate over a sequence (list, tuple, dictionary, set, or string)</a:t>
            </a:r>
            <a:endParaRPr lang="en-US" altLang="en-US" sz="2000"/>
          </a:p>
          <a:p>
            <a:endParaRPr lang="en-US" altLang="en-US" sz="3600" b="1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3075940"/>
            <a:ext cx="8806180" cy="314134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range function:</a:t>
            </a:r>
            <a:endParaRPr lang="en-US" altLang="en-US" sz="3600" b="1"/>
          </a:p>
          <a:p>
            <a:endParaRPr lang="en-US" altLang="en-US" sz="2000" b="1"/>
          </a:p>
          <a:p>
            <a:r>
              <a:rPr lang="en-US" altLang="en-US" sz="2000"/>
              <a:t>The range function is used to generate a sequence</a:t>
            </a:r>
            <a:r>
              <a:rPr lang="en-US" altLang="en-US" sz="2000" b="1"/>
              <a:t> </a:t>
            </a:r>
            <a:r>
              <a:rPr lang="en-US" altLang="en-US" sz="2000"/>
              <a:t>of numbers</a:t>
            </a:r>
            <a:endParaRPr lang="en-US" altLang="en-US" sz="2000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2875915"/>
            <a:ext cx="10147935" cy="30149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range function:</a:t>
            </a:r>
            <a:endParaRPr lang="en-US" altLang="en-US" sz="3600" b="1"/>
          </a:p>
          <a:p>
            <a:endParaRPr lang="en-US" altLang="en-US" sz="2000" b="1"/>
          </a:p>
          <a:p>
            <a:r>
              <a:rPr lang="en-US" altLang="en-US" sz="2000"/>
              <a:t>The range function is used to generate a sequence</a:t>
            </a:r>
            <a:r>
              <a:rPr lang="en-US" altLang="en-US" sz="2000" b="1"/>
              <a:t> </a:t>
            </a:r>
            <a:r>
              <a:rPr lang="en-US" altLang="en-US" sz="2000"/>
              <a:t>of numbers</a:t>
            </a:r>
            <a:endParaRPr lang="en-US" altLang="en-US" sz="2000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2655570"/>
            <a:ext cx="9946640" cy="3731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while loop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2000"/>
              <a:t>The while loop is used to execute a block of code as long as a condition is true</a:t>
            </a:r>
            <a:endParaRPr lang="en-US" altLang="en-US" sz="2000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3110865"/>
            <a:ext cx="7708265" cy="35090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break statement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2000"/>
              <a:t>The break statement is used to exit a loop prematurely</a:t>
            </a:r>
            <a:endParaRPr lang="en-US" altLang="en-US" sz="2000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3006725"/>
            <a:ext cx="7608570" cy="3210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continue statement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/>
              <a:t>The continue statement is used to skip the current iteration of a loop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640" y="3248025"/>
            <a:ext cx="1029716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Control Flow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pass statement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/>
              <a:t>The pass statement is used as a placeholder for future code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3035300"/>
            <a:ext cx="9669780" cy="34499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5. Exercises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84250" y="1206500"/>
            <a:ext cx="9839960" cy="5572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/>
              <a:t>5.1 Print even numbers from 1 to 20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/>
              <a:t>5.2 Print numbers from 1 to 10, but skip the number 5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/>
              <a:t>5.3 Print numbers from 1 to 10, but stop the loop when the number is 7</a:t>
            </a:r>
            <a:endParaRPr lang="en-US" altLang="en-US" sz="3600"/>
          </a:p>
          <a:p>
            <a:endParaRPr lang="en-US" altLang="en-US" sz="3600"/>
          </a:p>
          <a:p>
            <a:r>
              <a:rPr lang="en-US" altLang="en-US" sz="3600"/>
              <a:t>5.4 keep printing numbers as long as the number is less than 10</a:t>
            </a:r>
            <a:endParaRPr lang="en-US" altLang="en-US" sz="3600"/>
          </a:p>
          <a:p>
            <a:r>
              <a:rPr lang="en-US" altLang="en-US" sz="3600" b="1"/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/>
              <a:t>A list is a collection of items that are ordered and changeable.</a:t>
            </a:r>
            <a:endParaRPr lang="en-US" altLang="en-US" sz="3600"/>
          </a:p>
          <a:p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3310255"/>
            <a:ext cx="9190990" cy="22332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Common list operations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modify element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add element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remove element</a:t>
            </a:r>
            <a:endParaRPr lang="en-US" altLang="en-US" sz="2400"/>
          </a:p>
          <a:p>
            <a:endParaRPr lang="en-US" alt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245" y="2971165"/>
            <a:ext cx="795337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Common list operations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pop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remove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index slicing</a:t>
            </a:r>
            <a:endParaRPr lang="en-US" altLang="en-US" sz="2400"/>
          </a:p>
          <a:p>
            <a:endParaRPr lang="en-US" altLang="en-US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3054350"/>
            <a:ext cx="8237855" cy="36747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Common list operations</a:t>
            </a:r>
            <a:endParaRPr lang="en-US" altLang="en-US" sz="2400"/>
          </a:p>
          <a:p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Sort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575" y="2680970"/>
            <a:ext cx="10509250" cy="32753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/>
              <a:t>List comprehension</a:t>
            </a:r>
            <a:r>
              <a:rPr lang="en-US" altLang="en-US" sz="2400"/>
              <a:t>(</a:t>
            </a:r>
            <a:r>
              <a:rPr lang="en-US" altLang="en-US" sz="2400" b="1">
                <a:solidFill>
                  <a:srgbClr val="FF0000"/>
                </a:solidFill>
              </a:rPr>
              <a:t>Common interviw question!</a:t>
            </a:r>
            <a:r>
              <a:rPr lang="en-US" altLang="en-US" sz="2400"/>
              <a:t>)</a:t>
            </a:r>
            <a:endParaRPr lang="en-US" altLang="en-US" sz="2400"/>
          </a:p>
          <a:p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List comprehension is a concise way to create lists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2999740"/>
            <a:ext cx="10424795" cy="321754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/>
              <a:t>Nested list</a:t>
            </a:r>
            <a:endParaRPr lang="en-US" altLang="en-US" sz="3200" b="1"/>
          </a:p>
          <a:p>
            <a:endParaRPr lang="en-US" altLang="en-US" sz="3200" b="1"/>
          </a:p>
          <a:p>
            <a:r>
              <a:rPr lang="en-US" altLang="en-US" sz="2400"/>
              <a:t>A nested list is a list that contains other lists</a:t>
            </a:r>
            <a:endParaRPr lang="en-US" altLang="en-US" sz="2400"/>
          </a:p>
          <a:p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3063240"/>
            <a:ext cx="8736965" cy="33223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6. List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/>
              <a:t>Exercises</a:t>
            </a:r>
            <a:endParaRPr lang="en-US" altLang="en-US" sz="3200" b="1"/>
          </a:p>
          <a:p>
            <a:endParaRPr lang="en-US" altLang="en-US" sz="2400"/>
          </a:p>
          <a:p>
            <a:r>
              <a:rPr lang="en-US" altLang="en-US" sz="2400"/>
              <a:t>Refer to python file in list_exericse folder</a:t>
            </a:r>
            <a:endParaRPr lang="en-US" altLang="en-US" sz="2400"/>
          </a:p>
          <a:p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A dictionary is a collection of key-value pairs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405" y="2205355"/>
            <a:ext cx="586740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712595"/>
            <a:ext cx="983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A dictionary </a:t>
            </a:r>
            <a:r>
              <a:rPr lang="en-US" altLang="en-US" sz="2400" b="1"/>
              <a:t>cannot</a:t>
            </a:r>
            <a:r>
              <a:rPr lang="en-US" altLang="en-US" sz="2400"/>
              <a:t> have duplicate </a:t>
            </a:r>
            <a:r>
              <a:rPr lang="en-US" altLang="en-US" sz="2400" b="1"/>
              <a:t>key</a:t>
            </a:r>
            <a:r>
              <a:rPr lang="en-US" altLang="en-US" sz="2400"/>
              <a:t> but can have duplicate </a:t>
            </a:r>
            <a:r>
              <a:rPr lang="en-US" altLang="en-US" sz="2400" b="1"/>
              <a:t>values</a:t>
            </a:r>
            <a:r>
              <a:rPr lang="en-US" altLang="en-US" sz="2400"/>
              <a:t>( </a:t>
            </a:r>
            <a:r>
              <a:rPr lang="en-US" altLang="en-US" sz="2400" b="1">
                <a:solidFill>
                  <a:srgbClr val="FF0000"/>
                </a:solidFill>
              </a:rPr>
              <a:t>very important property</a:t>
            </a:r>
            <a:r>
              <a:rPr lang="en-US" altLang="en-US" sz="2400"/>
              <a:t>)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13355"/>
            <a:ext cx="9763125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712595"/>
            <a:ext cx="9839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/>
              <a:t>A dictionary </a:t>
            </a:r>
            <a:r>
              <a:rPr lang="en-US" altLang="en-US" sz="2400" b="1"/>
              <a:t>cannot</a:t>
            </a:r>
            <a:r>
              <a:rPr lang="en-US" altLang="en-US" sz="2400"/>
              <a:t> have duplicate </a:t>
            </a:r>
            <a:r>
              <a:rPr lang="en-US" altLang="en-US" sz="2400" b="1"/>
              <a:t>key</a:t>
            </a:r>
            <a:r>
              <a:rPr lang="en-US" altLang="en-US" sz="2400"/>
              <a:t> but can have duplicate </a:t>
            </a:r>
            <a:r>
              <a:rPr lang="en-US" altLang="en-US" sz="2400" b="1"/>
              <a:t>values</a:t>
            </a:r>
            <a:r>
              <a:rPr lang="en-US" altLang="en-US" sz="2400"/>
              <a:t>( </a:t>
            </a:r>
            <a:r>
              <a:rPr lang="en-US" altLang="en-US" sz="2400" b="1">
                <a:solidFill>
                  <a:srgbClr val="FF0000"/>
                </a:solidFill>
              </a:rPr>
              <a:t>very important property</a:t>
            </a:r>
            <a:r>
              <a:rPr lang="en-US" altLang="en-US" sz="2400"/>
              <a:t>)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60" y="2607310"/>
            <a:ext cx="7861300" cy="342773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83310" y="137541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Access values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208530"/>
            <a:ext cx="10414635" cy="32245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Add or modify key-value pairs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030" y="2378075"/>
            <a:ext cx="10382885" cy="34569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Remove key-value pairs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2442210"/>
            <a:ext cx="1012063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Looping all key-value pairs in a dictionary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750" y="2040255"/>
            <a:ext cx="8214360" cy="417703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Check if a key exist in dictionary 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5" y="2581910"/>
            <a:ext cx="11304905" cy="26320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7. Dictionary(Very important data type!)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Exercise:refer to dictionary_exercise folder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5" y="2581910"/>
            <a:ext cx="11304905" cy="26320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A string is a sequence of characters.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35" y="2822575"/>
            <a:ext cx="7733665" cy="25063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37590" y="1435100"/>
            <a:ext cx="98399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Common string methods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str.strip()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upper()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lower()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749675"/>
            <a:ext cx="10083800" cy="253873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Common string methods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capitalize()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title()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replace()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str.</a:t>
            </a:r>
            <a:r>
              <a:rPr lang="en-US" altLang="en-US" sz="2400"/>
              <a:t>split()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3749040"/>
            <a:ext cx="1106551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Common string methods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“connector”.join(list):It takes each element in the list of strings and joins them into a new single string, using "connector" as the separator</a:t>
            </a:r>
            <a:endParaRPr lang="en-US" alt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90" y="3096895"/>
            <a:ext cx="9001125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String formatting:f-Strings (Formatted String Literals)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290" y="2972435"/>
            <a:ext cx="11316970" cy="223901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3200" b="1"/>
              <a:t>String Slicing</a:t>
            </a:r>
            <a:endParaRPr lang="en-US" altLang="en-US" sz="3200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String slicing is the process of extracting a substring from a string</a:t>
            </a:r>
            <a:endParaRPr lang="en-US" altLang="en-US" sz="24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" y="2715895"/>
            <a:ext cx="959167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3200" b="1"/>
              <a:t>String Slicing</a:t>
            </a:r>
            <a:endParaRPr lang="en-US" altLang="en-US" sz="3200" b="1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String slicing is the process of extracting a substring from a string</a:t>
            </a:r>
            <a:endParaRPr lang="en-US" altLang="en-US" sz="24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2496185"/>
            <a:ext cx="7894955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3200" b="1"/>
              <a:t>String Slicing-reverse string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2874645"/>
            <a:ext cx="10042525" cy="277812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String length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String membership check</a:t>
            </a:r>
            <a:endParaRPr lang="en-US" alt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2453005"/>
            <a:ext cx="10890250" cy="399923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String iteration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String splitting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2189480"/>
            <a:ext cx="9983470" cy="43370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8. S</a:t>
            </a:r>
            <a:r>
              <a:rPr lang="en-US" altLang="en-US" b="1">
                <a:sym typeface="+mn-ea"/>
              </a:rPr>
              <a:t>trings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Exercise: refer to string_exercise folder</a:t>
            </a:r>
            <a:endParaRPr lang="en-US" altLang="en-US" sz="2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/>
              <a:t>A set is a collection of unique elements</a:t>
            </a:r>
            <a:endParaRPr lang="en-US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Sets are unordered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Sets are mutable</a:t>
            </a:r>
            <a:endParaRPr lang="en-US" altLang="en-US" sz="2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Create a set</a:t>
            </a:r>
            <a:endParaRPr lang="en-US" altLang="en-US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2450465"/>
            <a:ext cx="10198735" cy="25958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Characteristics</a:t>
            </a:r>
            <a:endParaRPr lang="en-US" altLang="en-US" sz="2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54225"/>
            <a:ext cx="10180320" cy="403034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Characteristics</a:t>
            </a:r>
            <a:endParaRPr lang="en-US" altLang="en-US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2046605"/>
            <a:ext cx="10832465" cy="41706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Operations</a:t>
            </a:r>
            <a:endParaRPr lang="en-US" altLang="en-US" sz="2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1974850"/>
            <a:ext cx="9171940" cy="452564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Operations</a:t>
            </a:r>
            <a:endParaRPr lang="en-US" altLang="en-US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15" y="1978660"/>
            <a:ext cx="9442450" cy="40093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Operations</a:t>
            </a:r>
            <a:endParaRPr lang="en-US" altLang="en-US" sz="24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1906270"/>
            <a:ext cx="9290050" cy="417766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58215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Set Operations</a:t>
            </a:r>
            <a:endParaRPr lang="en-US" altLang="en-US" sz="24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58085"/>
            <a:ext cx="10806430" cy="318325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838200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Iterating through a set</a:t>
            </a:r>
            <a:endParaRPr lang="en-US" altLang="en-US" sz="2400" b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74850"/>
            <a:ext cx="10006330" cy="396176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9. Set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67740" y="1296035"/>
            <a:ext cx="9839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/>
              <a:t>Exercise: refer to bottom of chapter9_work_with_collections_Set.py </a:t>
            </a:r>
            <a:endParaRPr lang="en-US" altLang="en-US" sz="2400" b="1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230630" y="1684655"/>
            <a:ext cx="9043670" cy="4046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Function</a:t>
            </a:r>
            <a:endParaRPr lang="en-US" sz="3200"/>
          </a:p>
          <a:p>
            <a:r>
              <a:rPr lang="en-US" altLang="en-US" sz="2500"/>
              <a:t>A function is a block of reusable code that performs a specific task.</a:t>
            </a:r>
            <a:endParaRPr lang="en-US" altLang="en-US" sz="2500"/>
          </a:p>
          <a:p>
            <a:endParaRPr lang="en-US" altLang="en-US" sz="2500"/>
          </a:p>
          <a:p>
            <a:endParaRPr lang="en-US" altLang="en-US" sz="2500"/>
          </a:p>
          <a:p>
            <a:r>
              <a:rPr lang="en-US" altLang="en-US" sz="2500"/>
              <a:t>Benefits:</a:t>
            </a:r>
            <a:endParaRPr lang="en-US" altLang="en-US" sz="2500"/>
          </a:p>
          <a:p>
            <a:endParaRPr lang="en-US" altLang="en-US" sz="2500"/>
          </a:p>
          <a:p>
            <a:r>
              <a:rPr lang="en-US" altLang="en-US" sz="2500"/>
              <a:t>Reuse code</a:t>
            </a:r>
            <a:endParaRPr lang="en-US" altLang="en-US" sz="2500"/>
          </a:p>
          <a:p>
            <a:r>
              <a:rPr lang="en-US" altLang="en-US" sz="2500"/>
              <a:t>Improve readability</a:t>
            </a:r>
            <a:endParaRPr lang="en-US" altLang="en-US" sz="2500"/>
          </a:p>
          <a:p>
            <a:r>
              <a:rPr lang="en-US" altLang="en-US" sz="2500"/>
              <a:t>Easier testing and debugging</a:t>
            </a:r>
            <a:endParaRPr lang="en-US" altLang="en-US" sz="2500"/>
          </a:p>
          <a:p>
            <a:endParaRPr lang="en-US" sz="25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230630" y="1339850"/>
            <a:ext cx="90436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/>
              <a:t>Define a function</a:t>
            </a:r>
            <a:endParaRPr lang="en-US" sz="2500"/>
          </a:p>
          <a:p>
            <a:r>
              <a:rPr lang="en-US" sz="2500"/>
              <a:t>1. Start with </a:t>
            </a:r>
            <a:r>
              <a:rPr lang="en-US" sz="2500" b="1"/>
              <a:t>def</a:t>
            </a:r>
            <a:r>
              <a:rPr lang="en-US" sz="2500"/>
              <a:t> key word</a:t>
            </a:r>
            <a:endParaRPr lang="en-US" sz="2500"/>
          </a:p>
          <a:p>
            <a:r>
              <a:rPr lang="en-US" altLang="en-US" sz="2500"/>
              <a:t>2 followed by the custom name</a:t>
            </a:r>
            <a:endParaRPr lang="en-US" altLang="en-US" sz="2500"/>
          </a:p>
          <a:p>
            <a:r>
              <a:rPr lang="en-US" altLang="en-US" sz="2500"/>
              <a:t>3.followed by brackets and parameters(optional)</a:t>
            </a:r>
            <a:endParaRPr lang="en-US" altLang="en-US" sz="2500"/>
          </a:p>
          <a:p>
            <a:r>
              <a:rPr lang="en-US" altLang="en-US" sz="2500"/>
              <a:t>4.finally add return statement if need to return something(optional)</a:t>
            </a:r>
            <a:endParaRPr lang="en-US" altLang="en-US" sz="2500"/>
          </a:p>
          <a:p>
            <a:endParaRPr lang="en-US" sz="2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345" y="3672205"/>
            <a:ext cx="7305040" cy="261683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13155" y="937895"/>
            <a:ext cx="996632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/>
              <a:t>How to call a function</a:t>
            </a:r>
            <a:endParaRPr lang="en-US" sz="25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/>
              <a:t>Use the function name followed by parentheses</a:t>
            </a:r>
            <a:endParaRPr lang="en-US" altLang="en-US" sz="25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/>
              <a:t>pass arguments(data) to function if they accept any paramters</a:t>
            </a:r>
            <a:endParaRPr lang="en-US" altLang="en-US" sz="25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500"/>
              <a:t>assign function returns value to a variable if function has return value </a:t>
            </a:r>
            <a:endParaRPr lang="en-US" altLang="en-US" sz="25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65" y="2708275"/>
            <a:ext cx="6071870" cy="350901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43940" y="1335405"/>
            <a:ext cx="9966325" cy="1553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/>
              <a:t>Function Parameters</a:t>
            </a:r>
            <a:endParaRPr lang="en-US" sz="3500"/>
          </a:p>
          <a:p>
            <a:endParaRPr lang="en-US" sz="3500"/>
          </a:p>
          <a:p>
            <a:r>
              <a:rPr lang="en-US" altLang="en-US" sz="2500" b="1"/>
              <a:t>Positional paramters</a:t>
            </a:r>
            <a:r>
              <a:rPr lang="en-US" altLang="en-US" sz="2500"/>
              <a:t>:passed to a function in the order they are defined</a:t>
            </a:r>
            <a:endParaRPr lang="en-US" altLang="en-US" sz="25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20" y="3144520"/>
            <a:ext cx="8157210" cy="319278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43940" y="1335405"/>
            <a:ext cx="99663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/>
              <a:t>Function Parameters</a:t>
            </a:r>
            <a:endParaRPr lang="en-US" sz="3500"/>
          </a:p>
          <a:p>
            <a:endParaRPr lang="en-US" sz="3500"/>
          </a:p>
          <a:p>
            <a:r>
              <a:rPr lang="en-US" altLang="en-US" sz="2500" b="1"/>
              <a:t>Default Parameters</a:t>
            </a:r>
            <a:r>
              <a:rPr lang="en-US" altLang="en-US" sz="2500"/>
              <a:t>:have a default value and use this default value if no arugments passed for them</a:t>
            </a:r>
            <a:endParaRPr lang="en-US" altLang="en-US" sz="25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3534410"/>
            <a:ext cx="69164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43940" y="1335405"/>
            <a:ext cx="9966325" cy="2322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/>
              <a:t>Function Parameters</a:t>
            </a:r>
            <a:endParaRPr lang="en-US" sz="3500"/>
          </a:p>
          <a:p>
            <a:endParaRPr lang="en-US" sz="3500"/>
          </a:p>
          <a:p>
            <a:r>
              <a:rPr lang="en-US" altLang="en-US" sz="2500" b="1"/>
              <a:t>Keyword arguments</a:t>
            </a:r>
            <a:r>
              <a:rPr lang="en-US" altLang="en-US" sz="2500"/>
              <a:t>:Keyword arguments are the parameters that are passed to a function using the parameter name. I</a:t>
            </a:r>
            <a:r>
              <a:rPr lang="en-US" altLang="en-US" sz="2500"/>
              <a:t>t allows you to pass arguments in any order</a:t>
            </a:r>
            <a:endParaRPr lang="en-US" altLang="en-US" sz="2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3746500"/>
            <a:ext cx="795909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2072005"/>
            <a:ext cx="971550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575" y="2129790"/>
            <a:ext cx="92964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80" y="2298065"/>
            <a:ext cx="6011545" cy="41148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131570" y="1472565"/>
            <a:ext cx="59569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500"/>
              <a:t>Function can return 0, 1, 2 multiple values</a:t>
            </a:r>
            <a:endParaRPr lang="en-US" sz="25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31570" y="1472565"/>
            <a:ext cx="97085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000"/>
              <a:t>Function Scope</a:t>
            </a:r>
            <a:endParaRPr lang="en-US" sz="3000"/>
          </a:p>
          <a:p>
            <a:endParaRPr lang="en-US" sz="2500"/>
          </a:p>
          <a:p>
            <a:r>
              <a:rPr lang="en-US" altLang="en-US" sz="2500"/>
              <a:t>The scope of a variable is the part of the program where the variable is accessible</a:t>
            </a:r>
            <a:endParaRPr lang="en-US" altLang="en-US" sz="25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02360" y="1214120"/>
            <a:ext cx="970851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Function Scope</a:t>
            </a:r>
            <a:endParaRPr lang="en-US" sz="2800"/>
          </a:p>
          <a:p>
            <a:endParaRPr lang="en-US" altLang="en-US" sz="1000"/>
          </a:p>
          <a:p>
            <a:endParaRPr lang="en-US" altLang="en-US" sz="2500"/>
          </a:p>
          <a:p>
            <a:r>
              <a:rPr lang="en-US" altLang="en-US" sz="2500" b="1"/>
              <a:t>Local Scope:</a:t>
            </a:r>
            <a:r>
              <a:rPr lang="en-US" altLang="en-US" sz="2500"/>
              <a:t>refers to variables that are defined inside a function and only exist during that function's execution</a:t>
            </a:r>
            <a:r>
              <a:rPr lang="en-US" altLang="en-US" sz="2500" b="1"/>
              <a:t>.</a:t>
            </a:r>
            <a:r>
              <a:rPr lang="en-US" altLang="en-US" sz="2500"/>
              <a:t>They are not accessible outside the function.</a:t>
            </a:r>
            <a:endParaRPr lang="en-US" altLang="en-US" sz="25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225" y="3550285"/>
            <a:ext cx="813435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02360" y="1214120"/>
            <a:ext cx="970851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Function Scope</a:t>
            </a:r>
            <a:endParaRPr lang="en-US" sz="2800"/>
          </a:p>
          <a:p>
            <a:endParaRPr lang="en-US" altLang="en-US" sz="1000"/>
          </a:p>
          <a:p>
            <a:endParaRPr lang="en-US" altLang="en-US" sz="2500"/>
          </a:p>
          <a:p>
            <a:r>
              <a:rPr lang="en-US" altLang="en-US" sz="2500" b="1"/>
              <a:t>Local Scope:</a:t>
            </a:r>
            <a:r>
              <a:rPr lang="en-US" altLang="en-US" sz="2500"/>
              <a:t>refers to variables that are defined inside a function and only exist during that function's execution</a:t>
            </a:r>
            <a:r>
              <a:rPr lang="en-US" altLang="en-US" sz="2500" b="1"/>
              <a:t>.</a:t>
            </a:r>
            <a:r>
              <a:rPr lang="en-US" altLang="en-US" sz="2500"/>
              <a:t>They are not accessible outside the function.</a:t>
            </a:r>
            <a:endParaRPr lang="en-US" altLang="en-US" sz="2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120" y="3561080"/>
            <a:ext cx="7122160" cy="241236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31570" y="1125220"/>
            <a:ext cx="970851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Function Scope</a:t>
            </a:r>
            <a:endParaRPr lang="en-US" sz="2800"/>
          </a:p>
          <a:p>
            <a:endParaRPr lang="en-US" altLang="en-US" sz="2500"/>
          </a:p>
          <a:p>
            <a:r>
              <a:rPr lang="en-US" altLang="en-US" sz="2500" b="1"/>
              <a:t>Global Scope: </a:t>
            </a:r>
            <a:r>
              <a:rPr lang="en-US" altLang="en-US" sz="2500"/>
              <a:t>Global scope refers to variables that are defined outside any function and are accessible throughout the entire file — including inside functions (read-only by default)</a:t>
            </a:r>
            <a:endParaRPr lang="en-US" altLang="en-US" sz="2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790" y="3186430"/>
            <a:ext cx="6134735" cy="336423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31570" y="1125220"/>
            <a:ext cx="97085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/>
              <a:t>Modules</a:t>
            </a:r>
            <a:endParaRPr lang="en-US" altLang="en-US" sz="3000"/>
          </a:p>
          <a:p>
            <a:endParaRPr lang="en-US" altLang="en-US" sz="2500"/>
          </a:p>
          <a:p>
            <a:r>
              <a:rPr lang="en-US" altLang="en-US" sz="2500"/>
              <a:t>A module is simply a Python file (.py) that contains functions, classes, or variables that you can import and reuse in other files</a:t>
            </a:r>
            <a:endParaRPr lang="en-US" altLang="en-US" sz="25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131570" y="1125220"/>
            <a:ext cx="97085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/>
              <a:t>Modules</a:t>
            </a:r>
            <a:endParaRPr lang="en-US" altLang="en-US" sz="3000"/>
          </a:p>
          <a:p>
            <a:endParaRPr lang="en-US" altLang="en-US" sz="2500"/>
          </a:p>
          <a:p>
            <a:r>
              <a:rPr lang="en-US" altLang="en-US" sz="2500"/>
              <a:t>B</a:t>
            </a:r>
            <a:r>
              <a:rPr lang="en-US" altLang="en-US" sz="2500"/>
              <a:t>uilt-in modules</a:t>
            </a:r>
            <a:endParaRPr lang="en-US" altLang="en-US" sz="25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2832100"/>
            <a:ext cx="8849360" cy="360235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345" y="7239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62355" y="937895"/>
            <a:ext cx="97085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/>
              <a:t>Modules</a:t>
            </a:r>
            <a:endParaRPr lang="en-US" altLang="en-US" sz="3000"/>
          </a:p>
          <a:p>
            <a:endParaRPr lang="en-US" altLang="en-US" sz="2500"/>
          </a:p>
          <a:p>
            <a:r>
              <a:rPr lang="en-US" altLang="en-US" sz="2500"/>
              <a:t>Custom modules</a:t>
            </a:r>
            <a:endParaRPr lang="en-US" altLang="en-US" sz="2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355" y="2259965"/>
            <a:ext cx="68580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345" y="7239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62355" y="937895"/>
            <a:ext cx="970851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/>
              <a:t>Modules</a:t>
            </a:r>
            <a:endParaRPr lang="en-US" altLang="en-US" sz="3000"/>
          </a:p>
          <a:p>
            <a:endParaRPr lang="en-US" altLang="en-US" sz="2500"/>
          </a:p>
          <a:p>
            <a:r>
              <a:rPr lang="en-US" altLang="en-US" sz="2500"/>
              <a:t>if __name__ == "__main__":It’s a common Python idiom that controls whether a script runs standalone or is imported as a module.</a:t>
            </a:r>
            <a:endParaRPr lang="en-US" altLang="en-US" sz="2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0" y="2788285"/>
            <a:ext cx="10531475" cy="384365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345" y="7239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10. F</a:t>
            </a:r>
            <a:r>
              <a:rPr lang="en-US" altLang="en-US" b="1">
                <a:sym typeface="+mn-ea"/>
              </a:rPr>
              <a:t>unctions and Modules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942975" y="1335405"/>
            <a:ext cx="9708515" cy="6092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000"/>
              <a:t>Exercises</a:t>
            </a:r>
            <a:endParaRPr lang="en-US" altLang="en-US" sz="3000"/>
          </a:p>
          <a:p>
            <a:endParaRPr lang="en-US" altLang="en-US" sz="3000"/>
          </a:p>
          <a:p>
            <a:r>
              <a:rPr lang="en-US" altLang="en-US" sz="3000"/>
              <a:t>1. convert the code in </a:t>
            </a:r>
            <a:r>
              <a:rPr lang="en-US" altLang="en-US" sz="2500"/>
              <a:t>count_occurrences.py in list_exercise folder into function and run function verify the result</a:t>
            </a:r>
            <a:endParaRPr lang="en-US" altLang="en-US" sz="2500"/>
          </a:p>
          <a:p>
            <a:endParaRPr lang="en-US" altLang="en-US" sz="2500"/>
          </a:p>
          <a:p>
            <a:r>
              <a:rPr lang="en-US" altLang="en-US" sz="2500">
                <a:sym typeface="+mn-ea"/>
              </a:rPr>
              <a:t>2. convert the code in find_maximum.py into function in list_exercise folder and run function verify the result</a:t>
            </a:r>
            <a:endParaRPr lang="en-US" altLang="en-US" sz="2500">
              <a:sym typeface="+mn-ea"/>
            </a:endParaRPr>
          </a:p>
          <a:p>
            <a:endParaRPr lang="en-US" altLang="en-US" sz="2500">
              <a:sym typeface="+mn-ea"/>
            </a:endParaRPr>
          </a:p>
          <a:p>
            <a:r>
              <a:rPr lang="en-US" altLang="en-US" sz="2500">
                <a:sym typeface="+mn-ea"/>
              </a:rPr>
              <a:t>3. create a function called  get_product_discount that takes product_name as parameter and its default_value = “apple”. It returns a number depends on the value of product_name. If product_name is apple, returns 0.9, if product_name is “orange” return 0.8, everything else return 0.5</a:t>
            </a:r>
            <a:endParaRPr lang="en-US" altLang="en-US" sz="2500"/>
          </a:p>
          <a:p>
            <a:endParaRPr lang="en-US" altLang="en-US" sz="2500"/>
          </a:p>
          <a:p>
            <a:endParaRPr lang="en-US" altLang="en-US" sz="25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11. Error handling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76170"/>
            <a:ext cx="935355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11. Error handling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1938020"/>
            <a:ext cx="9124950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11. Error handling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1363980"/>
            <a:ext cx="9048750" cy="531304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11. Error handling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1847850"/>
            <a:ext cx="9153525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 P</a:t>
            </a:r>
            <a:r>
              <a:rPr lang="en-US" altLang="en-US" b="1">
                <a:sym typeface="+mn-ea"/>
              </a:rPr>
              <a:t>andas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Pandas is a Python library for data analysis and manipulation, widely used in finance for: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Time-series analysis (e.g., stock prices, trading volume)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Data cleaning &amp; transformation (e.g., handling missing data, reformatting)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Performance metrics &amp; statistics (e.g., calculating returns, PnL)</a:t>
            </a:r>
            <a:endParaRPr lang="en-US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</a:t>
            </a:r>
            <a:r>
              <a:rPr lang="en-US" altLang="en-US" b="1">
                <a:sym typeface="+mn-ea"/>
              </a:rPr>
              <a:t>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2914015"/>
            <a:ext cx="10258425" cy="25050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82395" y="1874520"/>
            <a:ext cx="4791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Series and DataFrame</a:t>
            </a:r>
            <a:endParaRPr lang="en-US" sz="32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257425"/>
            <a:ext cx="9477375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064895" y="1431925"/>
            <a:ext cx="2334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Index</a:t>
            </a:r>
            <a:endParaRPr 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325" y="2110740"/>
            <a:ext cx="10658475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00430" y="1631315"/>
            <a:ext cx="5972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Common index operation</a:t>
            </a:r>
            <a:endParaRPr 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84780"/>
            <a:ext cx="10434320" cy="251714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3230245"/>
            <a:ext cx="7666355" cy="31775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343025" y="1547495"/>
            <a:ext cx="59721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Select columns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Filter rows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Sort value</a:t>
            </a:r>
            <a:endParaRPr lang="en-US" sz="32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5972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Group by and aggregate</a:t>
            </a:r>
            <a:endParaRPr 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525" y="2679700"/>
            <a:ext cx="8328025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12.1 Pandas basics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Read data from csv and save data to csv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40" y="2515870"/>
            <a:ext cx="10917555" cy="358394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dropna</a:t>
            </a:r>
            <a:r>
              <a:rPr lang="en-US" sz="3200"/>
              <a:t> function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fillna</a:t>
            </a:r>
            <a:r>
              <a:rPr lang="en-US" sz="3200"/>
              <a:t> function</a:t>
            </a:r>
            <a:endParaRPr 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3370"/>
            <a:ext cx="10565765" cy="319087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filter data with multiple filtering condition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speparate multiple conditions with </a:t>
            </a:r>
            <a:r>
              <a:rPr lang="en-US" sz="3200" b="1"/>
              <a:t>()</a:t>
            </a:r>
            <a:r>
              <a:rPr lang="en-US" sz="3200"/>
              <a:t> and combine them using </a:t>
            </a:r>
            <a:r>
              <a:rPr lang="en-US" sz="3200" b="1"/>
              <a:t>&amp;</a:t>
            </a:r>
            <a:endParaRPr lang="en-US" sz="3200" b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3784600"/>
            <a:ext cx="10303510" cy="231838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How to check existing columns’ data types:</a:t>
            </a:r>
            <a:r>
              <a:rPr lang="en-US" sz="3200" b="1"/>
              <a:t>df.dtypes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965" y="2483485"/>
            <a:ext cx="7173595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25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Object in pandas is like a box that can hold anything.</a:t>
            </a:r>
            <a:endParaRPr lang="en-US" altLang="en-US" sz="25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Most of the time, it means the column has text (strings), but it could also hold other Python types</a:t>
            </a:r>
            <a:endParaRPr lang="en-US" altLang="en-US" sz="25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002790"/>
            <a:ext cx="8413115" cy="31496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1999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Common Type Conversions: To String</a:t>
            </a:r>
            <a:endParaRPr lang="en-US" altLang="en-US" sz="2500"/>
          </a:p>
          <a:p>
            <a:pPr indent="0">
              <a:buFont typeface="Arial" panose="020B0604020202020204" pitchFamily="34" charset="0"/>
              <a:buNone/>
            </a:pPr>
            <a:endParaRPr lang="en-US" altLang="en-US" sz="2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689985"/>
            <a:ext cx="10424795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1999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Common Type Conversions: To String</a:t>
            </a:r>
            <a:endParaRPr lang="en-US" altLang="en-US" sz="2500"/>
          </a:p>
          <a:p>
            <a:pPr indent="0">
              <a:buFont typeface="Arial" panose="020B0604020202020204" pitchFamily="34" charset="0"/>
              <a:buNone/>
            </a:pPr>
            <a:endParaRPr lang="en-US" altLang="en-US" sz="25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689985"/>
            <a:ext cx="10424795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Common Type Conversions: To Integer</a:t>
            </a:r>
            <a:endParaRPr lang="en-US" altLang="en-US" sz="25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331845"/>
            <a:ext cx="11234420" cy="173545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047115" y="1045845"/>
            <a:ext cx="10104120" cy="1614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10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500"/>
              <a:t>Common Type Conversions: To Datetime</a:t>
            </a:r>
            <a:endParaRPr lang="en-US" altLang="en-US" sz="2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445" y="3314065"/>
            <a:ext cx="9595485" cy="2232025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30" y="-5715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245" y="858520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60095" y="1045845"/>
            <a:ext cx="10104120" cy="1049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sz="3200"/>
              <a:t>Convert data types in pandas</a:t>
            </a:r>
            <a:endParaRPr lang="en-US" sz="1000"/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lnSpc>
                <a:spcPct val="70000"/>
              </a:lnSpc>
              <a:buFont typeface="Arial" panose="020B0604020202020204" pitchFamily="34" charset="0"/>
              <a:buNone/>
            </a:pPr>
            <a:r>
              <a:rPr lang="en-US" altLang="en-US" sz="2500"/>
              <a:t>Common Type Conversions: To Datetime</a:t>
            </a:r>
            <a:endParaRPr lang="en-US" altLang="en-US" sz="2500"/>
          </a:p>
        </p:txBody>
      </p:sp>
      <p:graphicFrame>
        <p:nvGraphicFramePr>
          <p:cNvPr id="7" name="Object 6"/>
          <p:cNvGraphicFramePr/>
          <p:nvPr/>
        </p:nvGraphicFramePr>
        <p:xfrm>
          <a:off x="546100" y="2207895"/>
          <a:ext cx="7158990" cy="441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7153275" imgH="4410075" progId="Paint.Picture">
                  <p:embed/>
                </p:oleObj>
              </mc:Choice>
              <mc:Fallback>
                <p:oleObj name="" r:id="rId1" imgW="7153275" imgH="4410075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6100" y="2207895"/>
                        <a:ext cx="7158990" cy="441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/>
          <p:nvPr/>
        </p:nvGraphicFramePr>
        <p:xfrm>
          <a:off x="7833360" y="2207895"/>
          <a:ext cx="3851275" cy="301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" imgW="3848100" imgH="3009900" progId="Paint.Picture">
                  <p:embed/>
                </p:oleObj>
              </mc:Choice>
              <mc:Fallback>
                <p:oleObj name="" r:id="rId3" imgW="3848100" imgH="3009900" progId="Paint.Picture">
                  <p:embed/>
                  <p:pic>
                    <p:nvPicPr>
                      <p:cNvPr id="0" name="Picture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33360" y="2207895"/>
                        <a:ext cx="3851275" cy="301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12.2 Pandas </a:t>
            </a:r>
            <a:r>
              <a:rPr lang="en-US" altLang="en-US" b="1">
                <a:sym typeface="+mn-ea"/>
              </a:rPr>
              <a:t>cleaning and transform data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Convert data types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Convert numeric column with dirty data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35" y="3519170"/>
            <a:ext cx="9309735" cy="1688465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Merge dataframe:combine two data frame into one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025" y="2456815"/>
            <a:ext cx="9168130" cy="355219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Merge dataframe:combine two data frame into one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sz="3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335" y="2153285"/>
            <a:ext cx="2743835" cy="451358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1343025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Merge dataframe: Inner Join</a:t>
            </a:r>
            <a:endParaRPr 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460" y="2465070"/>
            <a:ext cx="10086340" cy="3935095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575310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Merge dataframe: Left Join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2505075"/>
            <a:ext cx="6229350" cy="92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305" y="1302385"/>
            <a:ext cx="4658995" cy="5555615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360680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Merge dataframe: Inner Join with different columns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" y="2825115"/>
            <a:ext cx="8943975" cy="981075"/>
          </a:xfrm>
          <a:prstGeom prst="rect">
            <a:avLst/>
          </a:prstGeom>
        </p:spPr>
      </p:pic>
      <p:graphicFrame>
        <p:nvGraphicFramePr>
          <p:cNvPr id="6" name="Object 5"/>
          <p:cNvGraphicFramePr/>
          <p:nvPr/>
        </p:nvGraphicFramePr>
        <p:xfrm>
          <a:off x="9117965" y="1741805"/>
          <a:ext cx="2599690" cy="502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3829050" imgH="6372225" progId="Paint.Picture">
                  <p:embed/>
                </p:oleObj>
              </mc:Choice>
              <mc:Fallback>
                <p:oleObj name="" r:id="rId2" imgW="3829050" imgH="6372225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17965" y="1741805"/>
                        <a:ext cx="2599690" cy="5024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12.3 Pandas data manipulation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Add new column based on conditions: numpy.where</a:t>
            </a:r>
            <a:endParaRPr lang="en-US" sz="3200"/>
          </a:p>
        </p:txBody>
      </p:sp>
      <p:graphicFrame>
        <p:nvGraphicFramePr>
          <p:cNvPr id="4" name="Object 3"/>
          <p:cNvGraphicFramePr/>
          <p:nvPr/>
        </p:nvGraphicFramePr>
        <p:xfrm>
          <a:off x="560705" y="2467610"/>
          <a:ext cx="9825355" cy="2579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8039100" imgH="3524250" progId="Paint.Picture">
                  <p:embed/>
                </p:oleObj>
              </mc:Choice>
              <mc:Fallback>
                <p:oleObj name="" r:id="rId1" imgW="8039100" imgH="3524250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0705" y="2467610"/>
                        <a:ext cx="9825355" cy="2579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547495"/>
            <a:ext cx="9097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Apply function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80" y="2610485"/>
            <a:ext cx="10239375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339215"/>
            <a:ext cx="9097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Apply function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3200"/>
              <a:t>apply function to a series (column)</a:t>
            </a: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45" y="3011805"/>
            <a:ext cx="7656195" cy="3640455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339215"/>
            <a:ext cx="90970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Apply function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3200"/>
              <a:t>apply function to a dataframe</a:t>
            </a: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05" y="3355340"/>
            <a:ext cx="7052310" cy="237998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339215"/>
            <a:ext cx="90970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Apply function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3200"/>
              <a:t>apply function to a dataframe:row-wise(axis=1)</a:t>
            </a: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2980690"/>
            <a:ext cx="6899275" cy="3578225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499745" y="1339215"/>
            <a:ext cx="90970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Apply function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3200"/>
              <a:t>apply function to a dataframe:column-wise(axis=0)</a:t>
            </a: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30" y="3114040"/>
            <a:ext cx="7134225" cy="360235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2415540"/>
            <a:ext cx="10191750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2021205"/>
            <a:ext cx="87249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/>
              <a:t>aggregate a single column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845" y="2712720"/>
            <a:ext cx="11045190" cy="392303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aggregate a single column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2907665"/>
            <a:ext cx="3855720" cy="286385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aggregate on multiple columns</a:t>
            </a:r>
            <a:endParaRPr lang="en-US" alt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93975"/>
            <a:ext cx="7699375" cy="4062095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aggregate on multiple columns</a:t>
            </a:r>
            <a:endParaRPr lang="en-US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2609850"/>
            <a:ext cx="4827905" cy="332359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aggregate on multiple columns:</a:t>
            </a:r>
            <a:r>
              <a:rPr lang="en-US" sz="3200">
                <a:sym typeface="+mn-ea"/>
              </a:rPr>
              <a:t>make results format better with reset_index and columns</a:t>
            </a:r>
            <a:endParaRPr lang="en-US" altLang="en-US" sz="3200"/>
          </a:p>
          <a:p>
            <a:pPr indent="0">
              <a:buFont typeface="Arial" panose="020B0604020202020204" pitchFamily="34" charset="0"/>
              <a:buNone/>
            </a:pPr>
            <a:endParaRPr lang="en-US" alt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11780"/>
            <a:ext cx="6780530" cy="381254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90970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aggregate on multiple columns:make results format better with reset_index and columns</a:t>
            </a:r>
            <a:endParaRPr lang="en-US" altLang="en-US" sz="32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232785"/>
            <a:ext cx="5740400" cy="2984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1092835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2500">
                <a:sym typeface="+mn-ea"/>
              </a:rPr>
              <a:t>aggregate on multiple columns with multiple aggregation functions</a:t>
            </a:r>
            <a:endParaRPr lang="en-US" altLang="en-US" sz="25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52065"/>
            <a:ext cx="9388475" cy="3951605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745" y="221615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sym typeface="+mn-ea"/>
              </a:rPr>
              <a:t>12.4 Pandas apply and aggregation </a:t>
            </a:r>
            <a:endParaRPr lang="en-US" alt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7895"/>
            <a:ext cx="10515600" cy="527939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86130" y="1339215"/>
            <a:ext cx="10928350" cy="968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sym typeface="+mn-ea"/>
              </a:rPr>
              <a:t>Aggregation</a:t>
            </a:r>
            <a:endParaRPr lang="en-US" sz="3200"/>
          </a:p>
          <a:p>
            <a:pPr indent="0">
              <a:buFont typeface="Arial" panose="020B0604020202020204" pitchFamily="34" charset="0"/>
              <a:buNone/>
            </a:pPr>
            <a:r>
              <a:rPr lang="en-US" sz="2500">
                <a:sym typeface="+mn-ea"/>
              </a:rPr>
              <a:t>aggregate on multiple columns with multiple aggregation functions</a:t>
            </a:r>
            <a:endParaRPr lang="en-US" altLang="en-US" sz="25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999105"/>
            <a:ext cx="9043670" cy="20389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13466</Words>
  <Application>WPS Presentation</Application>
  <PresentationFormat>Widescreen</PresentationFormat>
  <Paragraphs>1196</Paragraphs>
  <Slides>134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134</vt:i4>
      </vt:variant>
    </vt:vector>
  </HeadingPairs>
  <TitlesOfParts>
    <vt:vector size="148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Consolas</vt:lpstr>
      <vt:lpstr>Office Theme</vt:lpstr>
      <vt:lpstr>Paint.Picture</vt:lpstr>
      <vt:lpstr>Paint.Picture</vt:lpstr>
      <vt:lpstr>Paint.Picture</vt:lpstr>
      <vt:lpstr>Paint.Picture</vt:lpstr>
      <vt:lpstr>Paint.Picture</vt:lpstr>
      <vt:lpstr>Python for beginners</vt:lpstr>
      <vt:lpstr>Content </vt:lpstr>
      <vt:lpstr>Content </vt:lpstr>
      <vt:lpstr>Content </vt:lpstr>
      <vt:lpstr>Content </vt:lpstr>
      <vt:lpstr>Content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1. Introduction to Python </vt:lpstr>
      <vt:lpstr>2. Variables and Data Types</vt:lpstr>
      <vt:lpstr>2. Variables and Data Types</vt:lpstr>
      <vt:lpstr>2. Variables and Data Types</vt:lpstr>
      <vt:lpstr>2. Variables and Data Types</vt:lpstr>
      <vt:lpstr>2. Variables and Data Types</vt:lpstr>
      <vt:lpstr>3. Naming Conventions</vt:lpstr>
      <vt:lpstr>3. Naming Conventions</vt:lpstr>
      <vt:lpstr>4. Operators and Expressions</vt:lpstr>
      <vt:lpstr>4. Operators and Expressions</vt:lpstr>
      <vt:lpstr>4. Operators and Expressions</vt:lpstr>
      <vt:lpstr>5. Control Flow</vt:lpstr>
      <vt:lpstr>5. Control Flow</vt:lpstr>
      <vt:lpstr>5. Control Flow</vt:lpstr>
      <vt:lpstr>5. Control Flow</vt:lpstr>
      <vt:lpstr>5. Control Flow</vt:lpstr>
      <vt:lpstr>5. Control Flow</vt:lpstr>
      <vt:lpstr>5. Control Flow</vt:lpstr>
      <vt:lpstr>5. Control Flow</vt:lpstr>
      <vt:lpstr>5. Exercises</vt:lpstr>
      <vt:lpstr>6. List</vt:lpstr>
      <vt:lpstr>6. List</vt:lpstr>
      <vt:lpstr>6. List</vt:lpstr>
      <vt:lpstr>6. List</vt:lpstr>
      <vt:lpstr>6. List</vt:lpstr>
      <vt:lpstr>6. List</vt:lpstr>
      <vt:lpstr>6. List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7. Dictionary(Very important data type!)</vt:lpstr>
      <vt:lpstr>8. Strings</vt:lpstr>
      <vt:lpstr>8. Strings</vt:lpstr>
      <vt:lpstr>8. Strings</vt:lpstr>
      <vt:lpstr>8. Strings</vt:lpstr>
      <vt:lpstr>8. Strings</vt:lpstr>
      <vt:lpstr>8. Strings</vt:lpstr>
      <vt:lpstr>8. Strings</vt:lpstr>
      <vt:lpstr>8. Strings</vt:lpstr>
      <vt:lpstr>8. Strings</vt:lpstr>
      <vt:lpstr>8. Strings</vt:lpstr>
      <vt:lpstr>8. Strings</vt:lpstr>
      <vt:lpstr>9. Set</vt:lpstr>
      <vt:lpstr>9. Set</vt:lpstr>
      <vt:lpstr>9. Set</vt:lpstr>
      <vt:lpstr>9. Set</vt:lpstr>
      <vt:lpstr>9. Set</vt:lpstr>
      <vt:lpstr>9. Set</vt:lpstr>
      <vt:lpstr>9. Set</vt:lpstr>
      <vt:lpstr>9. Set</vt:lpstr>
      <vt:lpstr>9. Set</vt:lpstr>
      <vt:lpstr>9. Set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10. Functions and Modules</vt:lpstr>
      <vt:lpstr>11. Error handling</vt:lpstr>
      <vt:lpstr>11. Error handling</vt:lpstr>
      <vt:lpstr>11. Error handling</vt:lpstr>
      <vt:lpstr>11. Error handling</vt:lpstr>
      <vt:lpstr>12. Pandas</vt:lpstr>
      <vt:lpstr>12.1 Pandas basics</vt:lpstr>
      <vt:lpstr>12.1 Pandas basics</vt:lpstr>
      <vt:lpstr>12.1 Pandas basics</vt:lpstr>
      <vt:lpstr>12.1 Pandas basics</vt:lpstr>
      <vt:lpstr>12.1 Pandas basics</vt:lpstr>
      <vt:lpstr>12.1 Pandas basics</vt:lpstr>
      <vt:lpstr>12.1 Pandas basics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12.2 Pandas cleaning and transform data</vt:lpstr>
      <vt:lpstr>12.3 Pandas data manipulation</vt:lpstr>
      <vt:lpstr>12.3 Pandas data manipulation</vt:lpstr>
      <vt:lpstr>12.3 Pandas data manipulation</vt:lpstr>
      <vt:lpstr>12.3 Pandas data manipulation</vt:lpstr>
      <vt:lpstr>12.3 Pandas data manipulation</vt:lpstr>
      <vt:lpstr>12.3 Pandas data manipulation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  <vt:lpstr>12.4 Pandas apply and aggregation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</dc:title>
  <dc:creator>Kobe gao</dc:creator>
  <cp:lastModifiedBy>Kobe Byrant</cp:lastModifiedBy>
  <cp:revision>209</cp:revision>
  <dcterms:created xsi:type="dcterms:W3CDTF">2025-05-19T20:45:00Z</dcterms:created>
  <dcterms:modified xsi:type="dcterms:W3CDTF">2025-06-09T22:27:34Z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A66E42DE755449B38598FA1B8A90EC52_12</vt:lpwstr>
  </property>
  <property fmtid="{D5CDD505-2E9C-101B-9397-08002B2CF9AE}" pid="3" name="KSOProductBuildVer">
    <vt:lpwstr>1033-12.2.0.21179</vt:lpwstr>
  </property>
</Properties>
</file>